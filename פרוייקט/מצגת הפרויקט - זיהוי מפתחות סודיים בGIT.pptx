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01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1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75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35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26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08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28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6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0509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973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445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4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613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7403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4778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3785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5769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865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311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15120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2396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31971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035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003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8838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77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444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9D5EB-45E4-AEE3-6EC9-DFC676A68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07934" y="10866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>
              <a:spcAft>
                <a:spcPts val="1000"/>
              </a:spcAft>
            </a:pPr>
            <a:r>
              <a:rPr lang="he-IL" sz="32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זיהוי סודות ומפתחות סודיים ב</a:t>
            </a:r>
            <a:r>
              <a:rPr lang="en-US" sz="32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GitHub Repository</a:t>
            </a:r>
            <a:endParaRPr lang="en-IL" sz="4400" b="1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03126" y="2800930"/>
            <a:ext cx="3616497" cy="148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שם המגיש - איתי פישר</a:t>
            </a:r>
          </a:p>
          <a:p>
            <a:pPr marL="0" indent="0" algn="r" rtl="1">
              <a:buNone/>
            </a:pPr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שם המרצה -  ד"ר אנדרי קוזכוב</a:t>
            </a:r>
          </a:p>
          <a:p>
            <a:pPr marL="0" indent="0" algn="r" rtl="1">
              <a:buNone/>
            </a:pPr>
            <a:r>
              <a:rPr lang="he-IL" sz="1600" dirty="0">
                <a:latin typeface="Arial" pitchFamily="34" charset="0"/>
                <a:cs typeface="Arial" pitchFamily="34" charset="-120"/>
              </a:rPr>
              <a:t>קורס -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אבטחת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סייבר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ובינה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מלאכותית</a:t>
            </a:r>
            <a:endParaRPr lang="en-US" sz="16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תאריך הגשה - ספטמבר 2026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e-IL" sz="16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b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המכון הטכנולוגי חולון</a:t>
            </a:r>
          </a:p>
          <a:p>
            <a:pPr marL="0" indent="0" algn="r" rtl="1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6523" y="7040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בהנחיית: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ד"ר ___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3A41CEA-9BB4-C2F0-AB43-E40023D3E7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רקע ובעיה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2122052" y="1471707"/>
            <a:ext cx="913707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דליפת סודות כגון מפתחות, סיסמאות, תעודות גישה</a:t>
            </a:r>
            <a:r>
              <a:rPr lang="en-IL" sz="1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ומפתחות פרטיים הפכה לאחד מאיומי אבטחת המידע השכיחים והחמורים ביותר בארגוני תוכנה</a:t>
            </a:r>
            <a:r>
              <a:rPr lang="en-IL" sz="1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. </a:t>
            </a:r>
            <a: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מפתחים מעלים לעיתים קרובות קוד למאגרי מידע ציבוריים או פנימיים ב</a:t>
            </a:r>
            <a:r>
              <a:rPr lang="en-IL" sz="1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-GitHub </a:t>
            </a:r>
            <a: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מבלי לשים לב שהקוד מכיל נתונים רגישים.</a:t>
            </a:r>
            <a:b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</a:br>
            <a:r>
              <a:rPr lang="he-IL" sz="1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חשיפה כזו מאפשרת לתוקפים לקבל גישה בלתי מורשית לתשתיות ענן, לבסיסי נתונים ולשירותים קריטיים תוך שניות בודדות מרגע ההעלאה</a:t>
            </a:r>
            <a:r>
              <a:rPr lang="en-IL" sz="1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1600" dirty="0">
              <a:effectLst/>
              <a:latin typeface="Arial" panose="020B0604020202020204" pitchFamily="34" charset="0"/>
              <a:ea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lnSpc>
                <a:spcPct val="125000"/>
              </a:lnSpc>
              <a:spcAft>
                <a:spcPts val="800"/>
              </a:spcAft>
            </a:pPr>
            <a:endParaRPr lang="he-IL" sz="1600" dirty="0">
              <a:latin typeface="Arial" panose="020B0604020202020204" pitchFamily="34" charset="0"/>
              <a:ea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1600" dirty="0">
                <a:latin typeface="David" panose="020E0502060401010101" pitchFamily="34" charset="-79"/>
                <a:cs typeface="Arial" panose="020B0604020202020204" pitchFamily="34" charset="0"/>
              </a:rPr>
              <a:t>כלים מסורתיים המבוססים על ביטויים רגולריים</a:t>
            </a:r>
            <a:r>
              <a:rPr lang="en-IL" sz="1600" dirty="0">
                <a:latin typeface="David" panose="020E0502060401010101" pitchFamily="34" charset="-79"/>
                <a:cs typeface="Arial" panose="020B0604020202020204" pitchFamily="34" charset="0"/>
              </a:rPr>
              <a:t> </a:t>
            </a:r>
            <a:r>
              <a:rPr lang="he-IL" sz="1600" dirty="0">
                <a:latin typeface="David" panose="020E0502060401010101" pitchFamily="34" charset="-79"/>
                <a:cs typeface="Arial" panose="020B0604020202020204" pitchFamily="34" charset="0"/>
              </a:rPr>
              <a:t>וחישובי אנטרופיה סובלים מ שיעור גבוה של התראות שווא וחוסר בהבנת ההקשר בקוד</a:t>
            </a:r>
            <a:endParaRPr lang="en-IL" sz="1600" dirty="0">
              <a:latin typeface="David" panose="020E0502060401010101" pitchFamily="34" charset="-79"/>
              <a:cs typeface="Arial" panose="020B0604020202020204" pitchFamily="34" charset="0"/>
            </a:endParaRPr>
          </a:p>
          <a:p>
            <a:pPr algn="r" rtl="1">
              <a:lnSpc>
                <a:spcPct val="125000"/>
              </a:lnSpc>
              <a:spcAft>
                <a:spcPts val="800"/>
              </a:spcAft>
            </a:pPr>
            <a:endParaRPr lang="en-IL" sz="16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268C4A-2280-6F81-2E9C-133F36B24D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שאלת המחקר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1678711" y="1471707"/>
            <a:ext cx="9137073" cy="122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  <a:spcAft>
                <a:spcPts val="800"/>
              </a:spcAft>
            </a:pPr>
            <a:r>
              <a:rPr lang="he-IL" sz="20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כיצד ניתן לשלב בין סינון מהיר מבוסס תבניות</a:t>
            </a:r>
            <a:r>
              <a:rPr lang="en-US" sz="20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(Regex) </a:t>
            </a:r>
            <a:r>
              <a:rPr lang="he-IL" sz="20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לבין ניתוח הקשר בעזרת מודלי שפה על מנת לצמצם את שיעור התראות השווא בזיהוי סודות ב-</a:t>
            </a:r>
            <a:r>
              <a:rPr lang="en-US" sz="20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GitHub </a:t>
            </a:r>
            <a:r>
              <a:rPr lang="he-IL" sz="20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</a:t>
            </a:r>
            <a:r>
              <a:rPr lang="he-IL" sz="20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ולספק סיווג חומרה מנומק בזמן אמת</a:t>
            </a:r>
            <a:r>
              <a:rPr lang="en-US" sz="20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?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6621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095415-DAFB-1D9B-1F5B-2F8842BE8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מטרות הפרוייקט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1909615" y="1758035"/>
            <a:ext cx="91370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buFont typeface="Wingdings" panose="05000000000000000000" pitchFamily="2" charset="2"/>
              <a:buChar char="Ø"/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פיתוח מערכת היברידית וחכמה לזיהוי וניתוח דליפות סודות ומפתחות</a:t>
            </a:r>
            <a:b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</a:br>
            <a:endParaRPr lang="en-IL" sz="18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  <a:p>
            <a:pPr marL="342900" lvl="0" indent="-342900" algn="r" rtl="1">
              <a:buFont typeface="Wingdings" panose="05000000000000000000" pitchFamily="2" charset="2"/>
              <a:buChar char="Ø"/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אופטימיזציה וייעול תהליך ה- </a:t>
            </a:r>
            <a:r>
              <a:rPr lang="en-IL" sz="18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:Pipeline</a:t>
            </a:r>
            <a:br>
              <a:rPr lang="en-IL" sz="18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</a:br>
            <a:endParaRPr lang="en-IL" sz="18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  <a:p>
            <a:pPr marL="342900" lvl="0" indent="-342900" algn="r" rtl="1">
              <a:buFont typeface="Wingdings" panose="05000000000000000000" pitchFamily="2" charset="2"/>
              <a:buChar char="Ø"/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שימור הקשר ותחקור בעזרת תמונת מצב מלאה</a:t>
            </a:r>
            <a:br>
              <a:rPr lang="en-IL" sz="18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</a:br>
            <a:endParaRPr lang="en-IL" sz="18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  <a:p>
            <a:pPr marL="342900" lvl="0" indent="-342900" algn="r" rtl="1">
              <a:buFont typeface="Wingdings" panose="05000000000000000000" pitchFamily="2" charset="2"/>
              <a:buChar char="Ø"/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אימות דינמי ע"י מספר כלים: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899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48C753-8256-A34C-E5FF-4192F2CA03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אופן פעולת המערכת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6271491" y="1148498"/>
            <a:ext cx="547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1. המשתמש מזין את הנתיב לרפוזיטורי ומתחיל סריקה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67145D-B151-D606-F01B-3669256FD2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717"/>
          <a:stretch/>
        </p:blipFill>
        <p:spPr>
          <a:xfrm>
            <a:off x="3281290" y="2093547"/>
            <a:ext cx="6669060" cy="39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2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7E5F9D7-D3C7-83CD-946A-79F32120F1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אופן פעולת המערכת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1394692" y="1170264"/>
            <a:ext cx="10355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2. המשתמש מקבל פירוט מלא של החולשות שזוהו ע"י המערכת, עם פירוט, סיווג לרמת חומרה, מיקוד למקור הקוד והסבר מפורט של ממצאי המערכת.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FB9F8-9DBC-3C14-0879-CFBB36B99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996" y="3529602"/>
            <a:ext cx="8442625" cy="319233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6F395A7-1DC3-2974-B062-256149C56D24}"/>
              </a:ext>
            </a:extLst>
          </p:cNvPr>
          <p:cNvSpPr/>
          <p:nvPr/>
        </p:nvSpPr>
        <p:spPr>
          <a:xfrm>
            <a:off x="8686799" y="3935671"/>
            <a:ext cx="595748" cy="54239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07F236-AF15-32A3-0BDE-F4AFE8854005}"/>
              </a:ext>
            </a:extLst>
          </p:cNvPr>
          <p:cNvCxnSpPr>
            <a:cxnSpLocks/>
          </p:cNvCxnSpPr>
          <p:nvPr/>
        </p:nvCxnSpPr>
        <p:spPr>
          <a:xfrm flipH="1">
            <a:off x="9107498" y="3368134"/>
            <a:ext cx="590831" cy="517236"/>
          </a:xfrm>
          <a:prstGeom prst="straightConnector1">
            <a:avLst/>
          </a:prstGeom>
          <a:ln w="38100">
            <a:solidFill>
              <a:srgbClr val="00B0F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DB00B0-2CE2-60B7-7AF4-C16D01A8E7C9}"/>
              </a:ext>
            </a:extLst>
          </p:cNvPr>
          <p:cNvSpPr txBox="1"/>
          <p:nvPr/>
        </p:nvSpPr>
        <p:spPr>
          <a:xfrm>
            <a:off x="6502402" y="2505670"/>
            <a:ext cx="55602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לאחר הסינון הראשוני של ה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Regex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, ה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עובר בוחן כל אחד מהמועמדים עם ההקשר שלו ונותן את האישור הסופי האם מדובר באיום או התראת שווא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8DA6B9-DFF5-9B8E-3D22-7D076D088835}"/>
              </a:ext>
            </a:extLst>
          </p:cNvPr>
          <p:cNvCxnSpPr>
            <a:cxnSpLocks/>
          </p:cNvCxnSpPr>
          <p:nvPr/>
        </p:nvCxnSpPr>
        <p:spPr>
          <a:xfrm>
            <a:off x="3362036" y="3177309"/>
            <a:ext cx="664649" cy="1300761"/>
          </a:xfrm>
          <a:prstGeom prst="straightConnector1">
            <a:avLst/>
          </a:prstGeom>
          <a:ln w="38100">
            <a:solidFill>
              <a:srgbClr val="00B0F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4C8B5AE-D2BF-EBB0-B3FF-377DF06600FA}"/>
              </a:ext>
            </a:extLst>
          </p:cNvPr>
          <p:cNvSpPr txBox="1"/>
          <p:nvPr/>
        </p:nvSpPr>
        <p:spPr>
          <a:xfrm>
            <a:off x="757088" y="2405068"/>
            <a:ext cx="3196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פירוט כלל הממצאים, קטגוריזציה והסבר מילולי של האיומים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0C4A1A-A508-50A1-E19D-A4974F6B74DA}"/>
              </a:ext>
            </a:extLst>
          </p:cNvPr>
          <p:cNvSpPr/>
          <p:nvPr/>
        </p:nvSpPr>
        <p:spPr>
          <a:xfrm>
            <a:off x="2133304" y="4636706"/>
            <a:ext cx="8184008" cy="19723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218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BCD5E2-4BFB-4679-F82A-C4257B1283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תוצאות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2149761" y="1434869"/>
            <a:ext cx="9137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במהלך הבדיקה נבחנו אחוזי ההצלחה של מודל ה- 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מול מודל היוריסטי בתור האחראי לאשר/ לדחות את היותם של ממצאי ה-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Regex 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איומים ממשיים וניתן לראות שה- 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צדק במרבית הקביעות בניגוד למודל ההיוריסטי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A2D433-33A8-D7D0-A3C3-928ECB14B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434" y="2459799"/>
            <a:ext cx="5933566" cy="37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8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FF8EC9-EE89-14CE-8DF7-6FD261031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cs typeface="Arial" pitchFamily="34" charset="-120"/>
              </a:rPr>
              <a:t>מסקנות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2149761" y="1434869"/>
            <a:ext cx="9137073" cy="3238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הפרויקט השיג את מטרותיו המרכזיות ומאפשר </a:t>
            </a:r>
          </a:p>
          <a:p>
            <a:pPr marL="285750" indent="-285750" algn="r" rtl="1">
              <a:lnSpc>
                <a:spcPct val="12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סינון אוטומטי של התראות שווא בעת חיפוש מפתחות ע"י שילוב בין ניתוח סמנטי לעיבוד מתקדם בעזרת- </a:t>
            </a:r>
            <a:r>
              <a:rPr lang="en-US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.</a:t>
            </a:r>
          </a:p>
          <a:p>
            <a:pPr marL="285750" indent="-285750" algn="r" rtl="1">
              <a:lnSpc>
                <a:spcPct val="12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אופטימיזציה ויעול – הסינון הראשוני ע"י ביטויים רגולריים הוכיח את עצמו קריטי בשיפור ביצועים והמנעות מהעברת קבצי קוד רבים ל-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</a:t>
            </a:r>
          </a:p>
          <a:p>
            <a:pPr marL="285750" indent="-285750" algn="r" rtl="1">
              <a:lnSpc>
                <a:spcPct val="12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שימור הקשר – העברת קטע הקוד סביב הקוד החשוד ל-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הוכיחה את עצמה כיעילה בסינון התראות שווא</a:t>
            </a:r>
          </a:p>
          <a:p>
            <a:pPr marL="285750" indent="-285750" algn="r" rtl="1">
              <a:lnSpc>
                <a:spcPct val="12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הנגשת הסבר מפורט ומנומק למשתמש תאפשר הבנה קלה ותחקור פשוט ע"י צוותי האבטחה</a:t>
            </a:r>
          </a:p>
        </p:txBody>
      </p:sp>
    </p:spTree>
    <p:extLst>
      <p:ext uri="{BB962C8B-B14F-4D97-AF65-F5344CB8AC3E}">
        <p14:creationId xmlns:p14="http://schemas.microsoft.com/office/powerpoint/2010/main" val="28304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5117E9-9775-DCAC-DA40-33882A75F4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תוצאות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DB57-1F0B-8039-7185-EAF2FED7A66E}"/>
              </a:ext>
            </a:extLst>
          </p:cNvPr>
          <p:cNvSpPr txBox="1"/>
          <p:nvPr/>
        </p:nvSpPr>
        <p:spPr>
          <a:xfrm>
            <a:off x="2149761" y="1434869"/>
            <a:ext cx="9137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/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במהלך הבדיקה נבחנו אחוזי ההצלחה של מודל ה- 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מול מודל היוריסטי בתור האחראי לאשר/ לדחות את היותם של ממצאי ה-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Regex 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איומים ממשיים וניתן לראות שה- </a:t>
            </a:r>
            <a:r>
              <a:rPr lang="en-US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dirty="0"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צדק במרבית הקביעות בניגוד למודל ההיוריסטי</a:t>
            </a:r>
            <a:endParaRPr lang="en-IL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A2D433-33A8-D7D0-A3C3-928ECB14B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434" y="2459799"/>
            <a:ext cx="5933566" cy="37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1520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72</TotalTime>
  <Words>429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David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ITAY</cp:lastModifiedBy>
  <cp:revision>2</cp:revision>
  <dcterms:created xsi:type="dcterms:W3CDTF">2026-09-14T14:29:43Z</dcterms:created>
  <dcterms:modified xsi:type="dcterms:W3CDTF">2026-09-29T16:45:59Z</dcterms:modified>
</cp:coreProperties>
</file>