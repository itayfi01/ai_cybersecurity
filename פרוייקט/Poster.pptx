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268" y="-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FD301-DC84-4EE5-982A-6DEEAEA93AF4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1143000"/>
            <a:ext cx="215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02578-1988-4075-94CF-11B9F127FCB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187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936717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1pPr>
    <a:lvl2pPr marL="1468360" algn="l" defTabSz="2936717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2pPr>
    <a:lvl3pPr marL="2936717" algn="l" defTabSz="2936717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3pPr>
    <a:lvl4pPr marL="4405076" algn="l" defTabSz="2936717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4pPr>
    <a:lvl5pPr marL="5873433" algn="l" defTabSz="2936717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5pPr>
    <a:lvl6pPr marL="7341793" algn="l" defTabSz="2936717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6pPr>
    <a:lvl7pPr marL="8810150" algn="l" defTabSz="2936717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7pPr>
    <a:lvl8pPr marL="10278509" algn="l" defTabSz="2936717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8pPr>
    <a:lvl9pPr marL="11746866" algn="l" defTabSz="2936717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49500" y="1143000"/>
            <a:ext cx="2159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20CC1-7505-4520-8496-649B6ADCE184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4066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84B0-F7D0-443D-B0B2-51FE774220F6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A3CC-C8D4-4609-BB21-71134CF0396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0327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84B0-F7D0-443D-B0B2-51FE774220F6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A3CC-C8D4-4609-BB21-71134CF0396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927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84B0-F7D0-443D-B0B2-51FE774220F6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A3CC-C8D4-4609-BB21-71134CF0396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305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84B0-F7D0-443D-B0B2-51FE774220F6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A3CC-C8D4-4609-BB21-71134CF0396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30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84B0-F7D0-443D-B0B2-51FE774220F6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A3CC-C8D4-4609-BB21-71134CF0396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602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84B0-F7D0-443D-B0B2-51FE774220F6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A3CC-C8D4-4609-BB21-71134CF0396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574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84B0-F7D0-443D-B0B2-51FE774220F6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A3CC-C8D4-4609-BB21-71134CF0396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3582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84B0-F7D0-443D-B0B2-51FE774220F6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A3CC-C8D4-4609-BB21-71134CF0396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5789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84B0-F7D0-443D-B0B2-51FE774220F6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A3CC-C8D4-4609-BB21-71134CF0396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8692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84B0-F7D0-443D-B0B2-51FE774220F6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A3CC-C8D4-4609-BB21-71134CF0396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3070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84B0-F7D0-443D-B0B2-51FE774220F6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A3CC-C8D4-4609-BB21-71134CF0396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1076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D84B0-F7D0-443D-B0B2-51FE774220F6}" type="datetimeFigureOut">
              <a:rPr lang="en-IL" smtClean="0"/>
              <a:t>29/09/2026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EA3CC-C8D4-4609-BB21-71134CF0396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1684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siness Cybersecurity Services | Ricoh Canada">
            <a:extLst>
              <a:ext uri="{FF2B5EF4-FFF2-40B4-BE49-F238E27FC236}">
                <a16:creationId xmlns:a16="http://schemas.microsoft.com/office/drawing/2014/main" id="{BBE6273D-D3E2-05B4-CEF2-BBA249959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6036493"/>
            <a:ext cx="25199975" cy="9963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BD326F-85E2-8C8C-4A53-89488B676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793264"/>
              </p:ext>
            </p:extLst>
          </p:nvPr>
        </p:nvGraphicFramePr>
        <p:xfrm>
          <a:off x="818147" y="665381"/>
          <a:ext cx="23509705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590">
                  <a:extLst>
                    <a:ext uri="{9D8B030D-6E8A-4147-A177-3AD203B41FA5}">
                      <a16:colId xmlns:a16="http://schemas.microsoft.com/office/drawing/2014/main" val="4092810084"/>
                    </a:ext>
                  </a:extLst>
                </a:gridCol>
                <a:gridCol w="13210674">
                  <a:extLst>
                    <a:ext uri="{9D8B030D-6E8A-4147-A177-3AD203B41FA5}">
                      <a16:colId xmlns:a16="http://schemas.microsoft.com/office/drawing/2014/main" val="3944608498"/>
                    </a:ext>
                  </a:extLst>
                </a:gridCol>
                <a:gridCol w="4740441">
                  <a:extLst>
                    <a:ext uri="{9D8B030D-6E8A-4147-A177-3AD203B41FA5}">
                      <a16:colId xmlns:a16="http://schemas.microsoft.com/office/drawing/2014/main" val="3295376166"/>
                    </a:ext>
                  </a:extLst>
                </a:gridCol>
              </a:tblGrid>
              <a:tr h="1781860">
                <a:tc>
                  <a:txBody>
                    <a:bodyPr/>
                    <a:lstStyle/>
                    <a:p>
                      <a:pPr marL="0" marR="0" lvl="0" indent="0" algn="ctr" defTabSz="2519995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 err="1"/>
                        <a:t>אבטחת</a:t>
                      </a:r>
                      <a:r>
                        <a:rPr lang="en-US" sz="3600" dirty="0"/>
                        <a:t> </a:t>
                      </a:r>
                      <a:r>
                        <a:rPr lang="en-US" sz="3600" dirty="0" err="1"/>
                        <a:t>סייבר</a:t>
                      </a:r>
                      <a:r>
                        <a:rPr lang="en-US" sz="3600" dirty="0"/>
                        <a:t> </a:t>
                      </a:r>
                      <a:r>
                        <a:rPr lang="en-US" sz="3600" dirty="0" err="1"/>
                        <a:t>ובינה</a:t>
                      </a:r>
                      <a:r>
                        <a:rPr lang="en-US" sz="3600" dirty="0"/>
                        <a:t> </a:t>
                      </a:r>
                      <a:r>
                        <a:rPr lang="en-US" sz="3600" dirty="0" err="1"/>
                        <a:t>מלאכותית</a:t>
                      </a:r>
                      <a:endParaRPr lang="en-GB" sz="3600" dirty="0"/>
                    </a:p>
                  </a:txBody>
                  <a:tcPr marL="91439" marR="91439"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/>
                      <a:r>
                        <a:rPr lang="he-IL" sz="7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זיהוי סודות ומפתחות סודיים ב-</a:t>
                      </a:r>
                      <a:r>
                        <a:rPr lang="en-US" sz="73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GitHub Repository</a:t>
                      </a:r>
                      <a:endParaRPr lang="he-IL" sz="73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r>
                        <a:rPr lang="he-IL" sz="5300" dirty="0"/>
                        <a:t>איתי פישר</a:t>
                      </a:r>
                    </a:p>
                    <a:p>
                      <a:pPr algn="ctr" rtl="1"/>
                      <a:r>
                        <a:rPr lang="he-IL" sz="39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שנה ג' סמסטר קיץ</a:t>
                      </a:r>
                      <a:endParaRPr lang="en-GB" sz="39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9" marR="91439"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/>
                      <a:endParaRPr lang="en-GB" sz="5100" dirty="0"/>
                    </a:p>
                  </a:txBody>
                  <a:tcPr marL="91439" marR="91439"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067825"/>
                  </a:ext>
                </a:extLst>
              </a:tr>
              <a:tr h="1781860">
                <a:tc>
                  <a:txBody>
                    <a:bodyPr/>
                    <a:lstStyle/>
                    <a:p>
                      <a:pPr marL="0" marR="0" lvl="0" indent="0" algn="ctr" defTabSz="2519995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4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ד"ר אנדרי כוזוכוב</a:t>
                      </a:r>
                      <a:endParaRPr lang="he-IL" sz="4000" b="1" dirty="0">
                        <a:solidFill>
                          <a:schemeClr val="bg1"/>
                        </a:solidFill>
                      </a:endParaRPr>
                    </a:p>
                  </a:txBody>
                  <a:tcPr marL="91439" marR="91439" anchor="ctr"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00668"/>
                  </a:ext>
                </a:extLst>
              </a:tr>
            </a:tbl>
          </a:graphicData>
        </a:graphic>
      </p:graphicFrame>
      <p:pic>
        <p:nvPicPr>
          <p:cNvPr id="5" name="Picture 1" descr="Related image">
            <a:extLst>
              <a:ext uri="{FF2B5EF4-FFF2-40B4-BE49-F238E27FC236}">
                <a16:creationId xmlns:a16="http://schemas.microsoft.com/office/drawing/2014/main" id="{662E956F-9FEA-4F7A-C2D0-50717865B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2572" y="1076848"/>
            <a:ext cx="4252556" cy="2815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165D9B-34DB-4A19-A87C-683881A1AC1C}"/>
              </a:ext>
            </a:extLst>
          </p:cNvPr>
          <p:cNvSpPr/>
          <p:nvPr/>
        </p:nvSpPr>
        <p:spPr>
          <a:xfrm>
            <a:off x="12599987" y="4604289"/>
            <a:ext cx="11814492" cy="10243712"/>
          </a:xfrm>
          <a:prstGeom prst="rect">
            <a:avLst/>
          </a:prstGeom>
          <a:solidFill>
            <a:srgbClr val="DAE4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658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169CAB-D246-B0B4-1593-0B99DD386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9205" y="15126058"/>
            <a:ext cx="10163749" cy="830918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2BBA3D8-AD05-AB12-6098-729AA2FFC2AD}"/>
              </a:ext>
            </a:extLst>
          </p:cNvPr>
          <p:cNvSpPr/>
          <p:nvPr/>
        </p:nvSpPr>
        <p:spPr>
          <a:xfrm>
            <a:off x="593889" y="13802561"/>
            <a:ext cx="11778910" cy="4910983"/>
          </a:xfrm>
          <a:prstGeom prst="rect">
            <a:avLst/>
          </a:prstGeom>
          <a:solidFill>
            <a:srgbClr val="DBE4E7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658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B67A5-21EF-69CF-4710-08477D07E7C8}"/>
              </a:ext>
            </a:extLst>
          </p:cNvPr>
          <p:cNvSpPr/>
          <p:nvPr/>
        </p:nvSpPr>
        <p:spPr>
          <a:xfrm>
            <a:off x="-26989" y="26036493"/>
            <a:ext cx="25199976" cy="9963245"/>
          </a:xfrm>
          <a:prstGeom prst="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44D8D-0B58-7586-F05D-26BD1FBC1A91}"/>
              </a:ext>
            </a:extLst>
          </p:cNvPr>
          <p:cNvSpPr txBox="1"/>
          <p:nvPr/>
        </p:nvSpPr>
        <p:spPr>
          <a:xfrm>
            <a:off x="13244056" y="6001170"/>
            <a:ext cx="10855435" cy="7675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  <a:spcAft>
                <a:spcPts val="800"/>
              </a:spcAft>
            </a:pP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בשנים האחרונות, דליפת סודות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 (Secrets)—</a:t>
            </a: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כגון מפתחות</a:t>
            </a:r>
            <a:r>
              <a:rPr lang="he-IL" sz="3600" dirty="0"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סיסמאות</a:t>
            </a:r>
            <a:r>
              <a:rPr lang="he-IL" sz="3600" dirty="0"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,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תעודות גישה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ומפתחות פרטיים— הפכה לאחד מאיומי אבטחת המידע השכיחים והחמורים ביותר בארגוני תוכנה</a:t>
            </a:r>
            <a:r>
              <a:rPr lang="he-IL" sz="3600" dirty="0"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.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מפתחים מעלים לעיתים קרובות קוד למאגרי מידע ציבוריים או פנימיים ב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-GitHub </a:t>
            </a: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מבלי לשים לב שהקוד מכיל נתונים רגישים.</a:t>
            </a:r>
            <a:b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</a:b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חשיפה כזו מאפשרת לתוקפים לקבל גישה בלתי מורשית לתשתיות ענן, לבסיסי נתונים ולשירותים קריטיים תוך שניות בודדות מרגע ההעלאה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.</a:t>
            </a:r>
            <a:br>
              <a:rPr lang="en-US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</a:br>
            <a:endParaRPr lang="en-IL" sz="3600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3309DC9-93C0-CB65-7FFF-563B04EE6B6E}"/>
              </a:ext>
            </a:extLst>
          </p:cNvPr>
          <p:cNvSpPr/>
          <p:nvPr/>
        </p:nvSpPr>
        <p:spPr>
          <a:xfrm>
            <a:off x="12706637" y="23565409"/>
            <a:ext cx="11408491" cy="700846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658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CE6904-C676-EA78-7146-EBF79F5315AB}"/>
              </a:ext>
            </a:extLst>
          </p:cNvPr>
          <p:cNvSpPr txBox="1"/>
          <p:nvPr/>
        </p:nvSpPr>
        <p:spPr>
          <a:xfrm>
            <a:off x="13138891" y="5067896"/>
            <a:ext cx="42648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800" b="1" dirty="0">
                <a:solidFill>
                  <a:srgbClr val="1C3046"/>
                </a:solidFill>
              </a:rPr>
              <a:t>Background</a:t>
            </a:r>
            <a:endParaRPr lang="en-IL" sz="4800" b="1" dirty="0">
              <a:solidFill>
                <a:srgbClr val="1C3046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2A4DEF-E63A-2995-0670-72773A86DBEB}"/>
              </a:ext>
            </a:extLst>
          </p:cNvPr>
          <p:cNvSpPr/>
          <p:nvPr/>
        </p:nvSpPr>
        <p:spPr>
          <a:xfrm>
            <a:off x="724856" y="20924979"/>
            <a:ext cx="11408491" cy="7008465"/>
          </a:xfrm>
          <a:prstGeom prst="roundRect">
            <a:avLst/>
          </a:prstGeom>
          <a:solidFill>
            <a:srgbClr val="D6652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658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D93240-47CE-621F-EAE4-EC2D32B66D8E}"/>
              </a:ext>
            </a:extLst>
          </p:cNvPr>
          <p:cNvSpPr txBox="1"/>
          <p:nvPr/>
        </p:nvSpPr>
        <p:spPr>
          <a:xfrm>
            <a:off x="13109206" y="24327095"/>
            <a:ext cx="10855435" cy="535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399" b="1" dirty="0"/>
              <a:t>תוצאות</a:t>
            </a:r>
            <a:endParaRPr lang="en-US" sz="5399" b="1" dirty="0"/>
          </a:p>
          <a:p>
            <a:pPr marL="228600" algn="r" rtl="1"/>
            <a:r>
              <a:rPr lang="he-IL" sz="3600" dirty="0">
                <a:latin typeface="David" panose="020E0502060401010101" pitchFamily="34" charset="-79"/>
                <a:cs typeface="Arial" panose="020B0604020202020204" pitchFamily="34" charset="0"/>
              </a:rPr>
              <a:t>במקרי בדיקה רבים ה-</a:t>
            </a:r>
            <a:r>
              <a:rPr lang="en-US" sz="3600" dirty="0">
                <a:latin typeface="David" panose="020E0502060401010101" pitchFamily="34" charset="-79"/>
                <a:cs typeface="Arial" panose="020B0604020202020204" pitchFamily="34" charset="0"/>
              </a:rPr>
              <a:t>LLM</a:t>
            </a:r>
            <a:r>
              <a:rPr lang="he-IL" sz="3600" dirty="0">
                <a:latin typeface="David" panose="020E0502060401010101" pitchFamily="34" charset="-79"/>
                <a:cs typeface="Arial" panose="020B0604020202020204" pitchFamily="34" charset="0"/>
              </a:rPr>
              <a:t> ידע לשלול התראות שווא שה-</a:t>
            </a:r>
            <a:r>
              <a:rPr lang="en-US" sz="3600" dirty="0">
                <a:latin typeface="David" panose="020E0502060401010101" pitchFamily="34" charset="-79"/>
                <a:cs typeface="Arial" panose="020B0604020202020204" pitchFamily="34" charset="0"/>
              </a:rPr>
              <a:t>REGEX</a:t>
            </a:r>
            <a:r>
              <a:rPr lang="he-IL" sz="3600" dirty="0">
                <a:latin typeface="David" panose="020E0502060401010101" pitchFamily="34" charset="-79"/>
                <a:cs typeface="Arial" panose="020B0604020202020204" pitchFamily="34" charset="0"/>
              </a:rPr>
              <a:t> הצביע כתבניות המכילות סודות אמיתיים (אם בגלל הערות מכוכבות או תבניות שמרמזות על המצאו של מפתח מסויים).</a:t>
            </a:r>
          </a:p>
          <a:p>
            <a:pPr marL="228600" algn="r" rtl="1"/>
            <a:r>
              <a:rPr lang="he-IL" sz="3600" dirty="0">
                <a:latin typeface="David" panose="020E0502060401010101" pitchFamily="34" charset="-79"/>
                <a:cs typeface="Arial" panose="020B0604020202020204" pitchFamily="34" charset="0"/>
              </a:rPr>
              <a:t>דבר שמראה את הערך הרב שמתקבל משילוב מודל השפה בתהליך האוטומציה</a:t>
            </a:r>
            <a:endParaRPr lang="en-IL" sz="3600" dirty="0">
              <a:latin typeface="David" panose="020E0502060401010101" pitchFamily="34" charset="-79"/>
              <a:cs typeface="Arial" panose="020B0604020202020204" pitchFamily="34" charset="0"/>
            </a:endParaRPr>
          </a:p>
          <a:p>
            <a:pPr algn="l"/>
            <a:endParaRPr lang="he-IL" sz="3599" dirty="0"/>
          </a:p>
          <a:p>
            <a:pPr algn="l"/>
            <a:endParaRPr lang="he-IL" sz="3599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8560DA-7541-B08C-D3AF-EC87587178A4}"/>
              </a:ext>
            </a:extLst>
          </p:cNvPr>
          <p:cNvSpPr txBox="1"/>
          <p:nvPr/>
        </p:nvSpPr>
        <p:spPr>
          <a:xfrm>
            <a:off x="869183" y="21125621"/>
            <a:ext cx="10855435" cy="673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  <a:spcAft>
                <a:spcPts val="800"/>
              </a:spcAft>
            </a:pPr>
            <a:r>
              <a:rPr lang="he-IL" sz="5400" b="1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תובנות</a:t>
            </a:r>
            <a:r>
              <a:rPr lang="he-IL" sz="18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 </a:t>
            </a:r>
          </a:p>
          <a:p>
            <a:pPr algn="r" rtl="1">
              <a:lnSpc>
                <a:spcPct val="125000"/>
              </a:lnSpc>
              <a:spcAft>
                <a:spcPts val="800"/>
              </a:spcAft>
            </a:pP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הפרויקט השיג את מטרותיו המרכזיות ומאפשר סינון אוטומטי של התראות שווא בעת חיפוש מפתחות. השילוב בין סינון מהיר מבוסס ביטויים רגולריים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 (Regex) </a:t>
            </a: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לבין ניתוח סמנטי מבוסס מודלי שפה גדולים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 (LLM) </a:t>
            </a: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מוכיח את עצמו כפתרון אופטימלי. ה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-Regex </a:t>
            </a: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משמש כ"מסננת ראשונית" בעלות חישובית אפסית, בעוד ה-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LLM</a:t>
            </a:r>
            <a:r>
              <a:rPr lang="he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600" dirty="0">
                <a:effectLst/>
                <a:latin typeface="David" panose="020E0502060401010101" pitchFamily="34" charset="-79"/>
                <a:ea typeface="David" panose="020E0502060401010101" pitchFamily="34" charset="-79"/>
                <a:cs typeface="Arial" panose="020B0604020202020204" pitchFamily="34" charset="0"/>
              </a:rPr>
              <a:t>מביא עמו יכולות הבנה מעמיקות המפצות על המגרעות המסורתיות של כלים דטרמיניסטיים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  <a:cs typeface="David" panose="020E0502060401010101" pitchFamily="34" charset="-79"/>
              </a:rPr>
              <a:t>.</a:t>
            </a:r>
            <a:endParaRPr lang="en-IL" sz="3600" dirty="0">
              <a:effectLst/>
              <a:latin typeface="David" panose="020E0502060401010101" pitchFamily="34" charset="-79"/>
              <a:ea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5DBB01-EC09-4139-9A36-24B6D6A9D4EB}"/>
              </a:ext>
            </a:extLst>
          </p:cNvPr>
          <p:cNvSpPr txBox="1"/>
          <p:nvPr/>
        </p:nvSpPr>
        <p:spPr>
          <a:xfrm>
            <a:off x="713742" y="14050794"/>
            <a:ext cx="11408491" cy="3693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5399" b="1" dirty="0"/>
              <a:t>מטרות הפרוייקט</a:t>
            </a:r>
            <a:endParaRPr lang="en-US" sz="5399" b="1" dirty="0"/>
          </a:p>
          <a:p>
            <a:pPr algn="r" rtl="1"/>
            <a:r>
              <a:rPr lang="he-IL" sz="3600" dirty="0">
                <a:effectLst/>
                <a:ea typeface="David" panose="020E0502060401010101" pitchFamily="34" charset="-79"/>
                <a:cs typeface="Arial" panose="020B0604020202020204" pitchFamily="34" charset="0"/>
              </a:rPr>
              <a:t>פיתוח מערכת היברידית וחכמה לזיהוי וניתוח דליפות סודות ומפתחות גישה ב</a:t>
            </a:r>
            <a:r>
              <a:rPr lang="he-IL" sz="3600" dirty="0">
                <a:latin typeface="Arial" panose="020B0604020202020204" pitchFamily="34" charset="0"/>
                <a:ea typeface="David" panose="020E0502060401010101" pitchFamily="34" charset="-79"/>
                <a:cs typeface="Arial" panose="020B0604020202020204" pitchFamily="34" charset="0"/>
              </a:rPr>
              <a:t>-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</a:rPr>
              <a:t>GitHub </a:t>
            </a:r>
            <a:r>
              <a:rPr lang="he-IL" sz="3600" dirty="0">
                <a:effectLst/>
                <a:latin typeface="Arial" panose="020B0604020202020204" pitchFamily="34" charset="0"/>
                <a:ea typeface="David" panose="020E0502060401010101" pitchFamily="34" charset="-79"/>
              </a:rPr>
              <a:t> </a:t>
            </a:r>
            <a:r>
              <a:rPr lang="he-IL" sz="3600" dirty="0">
                <a:effectLst/>
                <a:ea typeface="David" panose="020E0502060401010101" pitchFamily="34" charset="-79"/>
                <a:cs typeface="Arial" panose="020B0604020202020204" pitchFamily="34" charset="0"/>
              </a:rPr>
              <a:t>המשלבת סריקה מהירה מבוססת תבניות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</a:rPr>
              <a:t> (Regex) </a:t>
            </a:r>
            <a:r>
              <a:rPr lang="he-IL" sz="3600" dirty="0">
                <a:effectLst/>
                <a:ea typeface="David" panose="020E0502060401010101" pitchFamily="34" charset="-79"/>
                <a:cs typeface="Arial" panose="020B0604020202020204" pitchFamily="34" charset="0"/>
              </a:rPr>
              <a:t>עם ניתוח הקשר עמוק באמצעות מודלי שפה, 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</a:rPr>
              <a:t>(LLM) </a:t>
            </a:r>
            <a:r>
              <a:rPr lang="he-IL" sz="3600" dirty="0">
                <a:effectLst/>
                <a:latin typeface="Arial" panose="020B0604020202020204" pitchFamily="34" charset="0"/>
                <a:ea typeface="David" panose="020E0502060401010101" pitchFamily="34" charset="-79"/>
              </a:rPr>
              <a:t> והשוואה למול מודל היוריסטי </a:t>
            </a:r>
            <a:r>
              <a:rPr lang="he-IL" sz="3600" dirty="0">
                <a:effectLst/>
                <a:ea typeface="David" panose="020E0502060401010101" pitchFamily="34" charset="-79"/>
                <a:cs typeface="Arial" panose="020B0604020202020204" pitchFamily="34" charset="0"/>
              </a:rPr>
              <a:t>כדי לצמצם באופן משמעותי התראות שווא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</a:rPr>
              <a:t> </a:t>
            </a:r>
            <a:r>
              <a:rPr lang="he-IL" sz="3600" dirty="0">
                <a:effectLst/>
                <a:ea typeface="David" panose="020E0502060401010101" pitchFamily="34" charset="-79"/>
                <a:cs typeface="Arial" panose="020B0604020202020204" pitchFamily="34" charset="0"/>
              </a:rPr>
              <a:t>ולספק תגובה מעשית למפתחים</a:t>
            </a:r>
            <a:r>
              <a:rPr lang="en-IL" sz="3600" dirty="0">
                <a:effectLst/>
                <a:latin typeface="Arial" panose="020B0604020202020204" pitchFamily="34" charset="0"/>
                <a:ea typeface="David" panose="020E0502060401010101" pitchFamily="34" charset="-79"/>
              </a:rPr>
              <a:t>.</a:t>
            </a:r>
            <a:endParaRPr lang="en-IL" sz="6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2A789-BB0F-F9F7-588A-C34C468922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702" y="5352855"/>
            <a:ext cx="12077788" cy="770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5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1371</TotalTime>
  <Words>254</Words>
  <Application>Microsoft Office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David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ITAY</dc:creator>
  <cp:lastModifiedBy>ITAY</cp:lastModifiedBy>
  <cp:revision>7</cp:revision>
  <dcterms:created xsi:type="dcterms:W3CDTF">2026-06-02T17:46:31Z</dcterms:created>
  <dcterms:modified xsi:type="dcterms:W3CDTF">2026-09-29T16:49:32Z</dcterms:modified>
</cp:coreProperties>
</file>